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anrope Light"/>
      <p:regular r:id="rId13"/>
      <p:bold r:id="rId14"/>
    </p:embeddedFont>
    <p:embeddedFont>
      <p:font typeface="Anton"/>
      <p:regular r:id="rId15"/>
    </p:embeddedFont>
    <p:embeddedFont>
      <p:font typeface="Manrope SemiBold"/>
      <p:regular r:id="rId16"/>
      <p:bold r:id="rId17"/>
    </p:embeddedFont>
    <p:embeddedFont>
      <p:font typeface="Manrope"/>
      <p:regular r:id="rId18"/>
      <p:bold r:id="rId19"/>
    </p:embeddedFont>
    <p:embeddedFont>
      <p:font typeface="Manrope ExtraBold"/>
      <p:bold r:id="rId20"/>
    </p:embeddedFont>
    <p:embeddedFont>
      <p:font typeface="Manrope Medium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ExtraBold-bold.fntdata"/><Relationship Id="rId22" Type="http://schemas.openxmlformats.org/officeDocument/2006/relationships/font" Target="fonts/ManropeMedium-bold.fntdata"/><Relationship Id="rId21" Type="http://schemas.openxmlformats.org/officeDocument/2006/relationships/font" Target="fonts/Manrope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Light-regular.fntdata"/><Relationship Id="rId12" Type="http://schemas.openxmlformats.org/officeDocument/2006/relationships/slide" Target="slides/slide7.xml"/><Relationship Id="rId15" Type="http://schemas.openxmlformats.org/officeDocument/2006/relationships/font" Target="fonts/Anton-regular.fntdata"/><Relationship Id="rId14" Type="http://schemas.openxmlformats.org/officeDocument/2006/relationships/font" Target="fonts/ManropeLight-bold.fntdata"/><Relationship Id="rId17" Type="http://schemas.openxmlformats.org/officeDocument/2006/relationships/font" Target="fonts/ManropeSemiBold-bold.fntdata"/><Relationship Id="rId16" Type="http://schemas.openxmlformats.org/officeDocument/2006/relationships/font" Target="fonts/ManropeSemiBold-regular.fntdata"/><Relationship Id="rId19" Type="http://schemas.openxmlformats.org/officeDocument/2006/relationships/font" Target="fonts/Manrope-bold.fntdata"/><Relationship Id="rId18" Type="http://schemas.openxmlformats.org/officeDocument/2006/relationships/font" Target="fonts/Manrop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f5e7559666_0_1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f5e7559666_0_1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f5e755966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f5e755966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f5e7559666_0_1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f5e7559666_0_1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f5e755966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f5e755966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f5e755966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f5e755966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f5e7559666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f5e7559666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f5e7559666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f5e7559666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3" name="Google Shape;33;p2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4" name="Google Shape;34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" name="Google Shape;56;p2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7" name="Google Shape;57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" name="Google Shape;79;p2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80" name="Google Shape;80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2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5" name="Google Shape;105;p2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6" name="Google Shape;106;p2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" name="Google Shape;109;p3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1" name="Google Shape;111;p3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14" name="Google Shape;114;p4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15" name="Google Shape;115;p4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4" name="Google Shape;124;p4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4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4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5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31" name="Google Shape;131;p5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40" name="Google Shape;140;p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" name="Google Shape;141;p5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42" name="Google Shape;142;p5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43" name="Google Shape;143;p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4" name="Google Shape;144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5" name="Google Shape;145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6" name="Google Shape;146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7" name="Google Shape;147;p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48" name="Google Shape;148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9" name="Google Shape;149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0" name="Google Shape;150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1" name="Google Shape;151;p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2" name="Google Shape;152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3" name="Google Shape;153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4" name="Google Shape;154;p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5" name="Google Shape;155;p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56" name="Google Shape;156;p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" name="Google Shape;157;p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58" name="Google Shape;158;p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9" name="Google Shape;159;p5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1" name="Google Shape;161;p5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2" name="Google Shape;162;p5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4" name="Google Shape;164;p5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5" name="Google Shape;165;p5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66" name="Google Shape;166;p5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7" name="Google Shape;167;p5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68" name="Google Shape;168;p5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6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2" name="Google Shape;172;p6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" name="Google Shape;173;p6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4" name="Google Shape;174;p6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5" name="Google Shape;175;p6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6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6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85" name="Google Shape;185;p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94" name="Google Shape;194;p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7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96" name="Google Shape;196;p7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97" name="Google Shape;197;p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0" name="Google Shape;200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1" name="Google Shape;201;p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2" name="Google Shape;202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3" name="Google Shape;203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4" name="Google Shape;204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5" name="Google Shape;205;p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06" name="Google Shape;206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7" name="Google Shape;207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8" name="Google Shape;208;p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9" name="Google Shape;209;p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10" name="Google Shape;210;p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11" name="Google Shape;211;p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12" name="Google Shape;212;p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13" name="Google Shape;213;p7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4" name="Google Shape;214;p7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5" name="Google Shape;215;p7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6" name="Google Shape;216;p7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7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7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7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7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7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4" name="Google Shape;224;p8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8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6" name="Google Shape;226;p8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27" name="Google Shape;227;p8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28" name="Google Shape;228;p8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1" name="Google Shape;231;p9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9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" name="Google Shape;233;p9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34" name="Google Shape;234;p9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" name="Google Shape;237;p1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10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9" name="Google Shape;239;p1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41" name="Google Shape;241;p1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44" name="Google Shape;244;p1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53" name="Google Shape;253;p11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p11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55" name="Google Shape;255;p11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56" name="Google Shape;256;p11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7" name="Google Shape;257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8" name="Google Shape;258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9" name="Google Shape;259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0" name="Google Shape;260;p11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1" name="Google Shape;261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4" name="Google Shape;264;p11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5" name="Google Shape;265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6" name="Google Shape;266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7" name="Google Shape;267;p1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8" name="Google Shape;268;p11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69" name="Google Shape;269;p1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70" name="Google Shape;270;p1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71" name="Google Shape;271;p11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72" name="Google Shape;272;p1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276" name="Google Shape;276;p12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277" name="Google Shape;277;p12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278" name="Google Shape;278;p12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9" name="Google Shape;279;p12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0" name="Google Shape;280;p12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2" name="Google Shape;282;p12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12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5" name="Google Shape;285;p12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86" name="Google Shape;286;p12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13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0" name="Google Shape;290;p13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3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2" name="Google Shape;292;p1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96" name="Google Shape;296;p1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3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4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01" name="Google Shape;301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02" name="Google Shape;3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5" name="Google Shape;3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6" name="Google Shape;3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1" name="Google Shape;3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4" name="Google Shape;3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4" name="Google Shape;324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25" name="Google Shape;3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7" name="Google Shape;3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9" name="Google Shape;3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0" name="Google Shape;3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6" name="Google Shape;3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3" name="Google Shape;3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4" name="Google Shape;3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5" name="Google Shape;3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6" name="Google Shape;3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47" name="Google Shape;347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48" name="Google Shape;348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70" name="Google Shape;370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1" name="Google Shape;371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93" name="Google Shape;393;p1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4" name="Google Shape;394;p1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4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96" name="Google Shape;396;p14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15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399" name="Google Shape;399;p15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15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" name="Google Shape;401;p15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2" name="Google Shape;402;p15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3" name="Google Shape;403;p15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p15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15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" name="Google Shape;406;p15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7" name="Google Shape;407;p15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" name="Google Shape;408;p15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9" name="Google Shape;409;p15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0" name="Google Shape;410;p15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11" name="Google Shape;411;p15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12" name="Google Shape;412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13" name="Google Shape;41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14" name="Google Shape;41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5" name="Google Shape;41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6" name="Google Shape;41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17" name="Google Shape;41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8" name="Google Shape;41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9" name="Google Shape;41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20" name="Google Shape;42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1" name="Google Shape;42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22" name="Google Shape;422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23" name="Google Shape;42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24" name="Google Shape;42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5" name="Google Shape;42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6" name="Google Shape;42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27" name="Google Shape;42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28" name="Google Shape;42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29" name="Google Shape;42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30" name="Google Shape;43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1" name="Google Shape;43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32" name="Google Shape;432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33" name="Google Shape;43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34" name="Google Shape;43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5" name="Google Shape;43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6" name="Google Shape;43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37" name="Google Shape;43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38" name="Google Shape;43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39" name="Google Shape;439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40" name="Google Shape;440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1" name="Google Shape;441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42" name="Google Shape;442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43" name="Google Shape;443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44" name="Google Shape;444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5" name="Google Shape;445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46" name="Google Shape;446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47" name="Google Shape;447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48" name="Google Shape;448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49" name="Google Shape;449;p15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0" name="Google Shape;450;p15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51" name="Google Shape;451;p1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2" name="Google Shape;45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3" name="Google Shape;45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4" name="Google Shape;45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5" name="Google Shape;45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56" name="Google Shape;45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57" name="Google Shape;45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58" name="Google Shape;45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1" name="Google Shape;461;p1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2" name="Google Shape;46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3" name="Google Shape;46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4" name="Google Shape;46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5" name="Google Shape;46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6" name="Google Shape;46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7" name="Google Shape;46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8" name="Google Shape;46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1" name="Google Shape;471;p1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2" name="Google Shape;47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3" name="Google Shape;47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4" name="Google Shape;47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5" name="Google Shape;47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6" name="Google Shape;47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7" name="Google Shape;47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8" name="Google Shape;478;p1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1" name="Google Shape;481;p1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2" name="Google Shape;482;p1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3" name="Google Shape;483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4" name="Google Shape;484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5" name="Google Shape;485;p1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6" name="Google Shape;486;p1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7" name="Google Shape;487;p1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88" name="Google Shape;488;p15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89" name="Google Shape;489;p15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6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492" name="Google Shape;492;p1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493" name="Google Shape;493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7" name="Google Shape;497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8" name="Google Shape;498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9" name="Google Shape;499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1" name="Google Shape;501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2" name="Google Shape;502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3" name="Google Shape;503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5" name="Google Shape;505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4" name="Google Shape;514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15" name="Google Shape;515;p1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16" name="Google Shape;516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2" name="Google Shape;522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3" name="Google Shape;523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4" name="Google Shape;524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5" name="Google Shape;525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6" name="Google Shape;526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7" name="Google Shape;527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38" name="Google Shape;538;p1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39" name="Google Shape;539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1" name="Google Shape;561;p1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2" name="Google Shape;562;p1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1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1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1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1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1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1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1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1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1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1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1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1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1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1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1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1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84" name="Google Shape;584;p16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5" name="Google Shape;585;p16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16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16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8" name="Google Shape;588;p16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16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16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91" name="Google Shape;591;p16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16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16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16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16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16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16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16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7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01" name="Google Shape;601;p17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17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7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7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7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7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7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17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17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17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17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17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3" name="Google Shape;613;p17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17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7" name="Google Shape;617;p18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18" name="Google Shape;618;p18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19" name="Google Shape;619;p18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0" name="Google Shape;620;p18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1" name="Google Shape;621;p18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22" name="Google Shape;622;p18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18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29" name="Google Shape;629;p18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30" name="Google Shape;630;p18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1" name="Google Shape;631;p18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2" name="Google Shape;632;p18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3" name="Google Shape;633;p18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4" name="Google Shape;634;p18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5" name="Google Shape;635;p18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36" name="Google Shape;636;p1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7" name="Google Shape;637;p18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38" name="Google Shape;638;p18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39" name="Google Shape;639;p1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0" name="Google Shape;640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1" name="Google Shape;641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2" name="Google Shape;642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3" name="Google Shape;643;p1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4" name="Google Shape;644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5" name="Google Shape;645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6" name="Google Shape;646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47" name="Google Shape;647;p1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48" name="Google Shape;648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49" name="Google Shape;649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0" name="Google Shape;650;p1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51" name="Google Shape;651;p1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52" name="Google Shape;652;p1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53" name="Google Shape;653;p1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54" name="Google Shape;654;p1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655" name="Google Shape;655;p18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6" name="Google Shape;656;p18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7" name="Google Shape;657;p18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18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18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p18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p18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9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4" name="Google Shape;664;p19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665" name="Google Shape;665;p19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666" name="Google Shape;666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667" name="Google Shape;66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68" name="Google Shape;66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69" name="Google Shape;66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0" name="Google Shape;67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71" name="Google Shape;67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2" name="Google Shape;67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3" name="Google Shape;67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74" name="Google Shape;67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5" name="Google Shape;67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76" name="Google Shape;676;p19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677" name="Google Shape;67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78" name="Google Shape;67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9" name="Google Shape;67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0" name="Google Shape;68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81" name="Google Shape;68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2" name="Google Shape;68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3" name="Google Shape;68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84" name="Google Shape;68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5" name="Google Shape;68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86" name="Google Shape;686;p19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687" name="Google Shape;68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88" name="Google Shape;68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9" name="Google Shape;68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0" name="Google Shape;69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691" name="Google Shape;69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2" name="Google Shape;69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3" name="Google Shape;693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694" name="Google Shape;694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696" name="Google Shape;696;p19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697" name="Google Shape;697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698" name="Google Shape;698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9" name="Google Shape;699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0" name="Google Shape;700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1" name="Google Shape;701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2" name="Google Shape;702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03" name="Google Shape;703;p19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04" name="Google Shape;704;p19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05" name="Google Shape;70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06" name="Google Shape;70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07" name="Google Shape;70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08" name="Google Shape;70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09" name="Google Shape;70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0" name="Google Shape;71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1" name="Google Shape;711;p19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2" name="Google Shape;712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3" name="Google Shape;713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14" name="Google Shape;714;p19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15" name="Google Shape;715;p19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19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19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19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21" name="Google Shape;721;p19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22" name="Google Shape;722;p19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19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4" name="Google Shape;724;p19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5" name="Google Shape;725;p19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6" name="Google Shape;726;p19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7" name="Google Shape;727;p19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8" name="Google Shape;728;p19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29" name="Google Shape;729;p19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30" name="Google Shape;730;p19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0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36" name="Google Shape;736;p20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37" name="Google Shape;737;p20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8" name="Google Shape;738;p20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39" name="Google Shape;739;p20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40" name="Google Shape;740;p20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1" name="Google Shape;741;p20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2" name="Google Shape;742;p20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3" name="Google Shape;743;p20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4" name="Google Shape;744;p20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5" name="Google Shape;745;p20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6" name="Google Shape;746;p20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7" name="Google Shape;747;p20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8" name="Google Shape;748;p20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9" name="Google Shape;749;p20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0" name="Google Shape;750;p20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1" name="Google Shape;751;p20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2" name="Google Shape;752;p20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20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20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55" name="Google Shape;755;p20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756" name="Google Shape;756;p20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57" name="Google Shape;757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58" name="Google Shape;75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59" name="Google Shape;75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0" name="Google Shape;76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1" name="Google Shape;76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2" name="Google Shape;76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3" name="Google Shape;76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64" name="Google Shape;76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5" name="Google Shape;76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66" name="Google Shape;76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67" name="Google Shape;767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68" name="Google Shape;76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69" name="Google Shape;76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0" name="Google Shape;77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1" name="Google Shape;77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2" name="Google Shape;77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3" name="Google Shape;77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74" name="Google Shape;77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5" name="Google Shape;77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76" name="Google Shape;77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77" name="Google Shape;777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78" name="Google Shape;77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79" name="Google Shape;77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0" name="Google Shape;78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1" name="Google Shape;78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2" name="Google Shape;78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3" name="Google Shape;78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84" name="Google Shape;784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5" name="Google Shape;785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86" name="Google Shape;786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787" name="Google Shape;787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788" name="Google Shape;788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89" name="Google Shape;789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0" name="Google Shape;790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1" name="Google Shape;791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2" name="Google Shape;792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3" name="Google Shape;793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794" name="Google Shape;794;p20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795" name="Google Shape;795;p20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796" name="Google Shape;79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797" name="Google Shape;79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798" name="Google Shape;79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799" name="Google Shape;79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0" name="Google Shape;80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1" name="Google Shape;80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2" name="Google Shape;80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3" name="Google Shape;80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4" name="Google Shape;80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05" name="Google Shape;805;p20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6" name="Google Shape;80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2" name="Google Shape;81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3" name="Google Shape;81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4" name="Google Shape;81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5" name="Google Shape;815;p20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6" name="Google Shape;81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2" name="Google Shape;822;p20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3" name="Google Shape;823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4" name="Google Shape;824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5" name="Google Shape;825;p20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26" name="Google Shape;826;p20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20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20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20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32" name="Google Shape;832;p20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20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4" name="Google Shape;834;p20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5" name="Google Shape;835;p20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6" name="Google Shape;836;p20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37" name="Google Shape;837;p20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8" name="Google Shape;838;p20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39" name="Google Shape;839;p20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0" name="Google Shape;840;p20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41" name="Google Shape;841;p20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2" name="Google Shape;842;p20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oogle Shape;844;p2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45" name="Google Shape;845;p2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6" name="Google Shape;846;p2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7" name="Google Shape;847;p2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" name="Google Shape;848;p2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9" name="Google Shape;849;p2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0" name="Google Shape;850;p2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1" name="Google Shape;851;p2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2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p2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54" name="Google Shape;854;p21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2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856" name="Google Shape;856;p21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7" name="Google Shape;857;p21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58" name="Google Shape;858;p21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59" name="Google Shape;859;p21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0" name="Google Shape;860;p21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1" name="Google Shape;861;p21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2" name="Google Shape;862;p21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3" name="Google Shape;863;p21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4" name="Google Shape;864;p21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5" name="Google Shape;865;p21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66" name="Google Shape;866;p21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67" name="Google Shape;867;p21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2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0" name="Google Shape;870;p22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71" name="Google Shape;871;p22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872" name="Google Shape;872;p22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73" name="Google Shape;873;p22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3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7" name="Google Shape;877;p23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879" name="Google Shape;879;p23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23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1" name="Google Shape;881;p23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2" name="Google Shape;882;p23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3" name="Google Shape;883;p23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4" name="Google Shape;884;p23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5" name="Google Shape;885;p23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2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88" name="Google Shape;888;p2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9" name="Google Shape;889;p2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0" name="Google Shape;890;p2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2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2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2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2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2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2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897" name="Google Shape;897;p2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8" name="Google Shape;898;p24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899" name="Google Shape;899;p24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00" name="Google Shape;900;p2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1" name="Google Shape;901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2" name="Google Shape;902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3" name="Google Shape;903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4" name="Google Shape;904;p2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5" name="Google Shape;905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6" name="Google Shape;906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07" name="Google Shape;907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08" name="Google Shape;908;p2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09" name="Google Shape;909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0" name="Google Shape;910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1" name="Google Shape;911;p2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12" name="Google Shape;912;p2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13" name="Google Shape;913;p2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14" name="Google Shape;914;p2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15" name="Google Shape;915;p2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16" name="Google Shape;916;p24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7" name="Google Shape;917;p24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24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19" name="Google Shape;919;p24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0" name="Google Shape;920;p24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1" name="Google Shape;921;p24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22" name="Google Shape;922;p24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3" name="Google Shape;923;p24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4" name="Google Shape;924;p24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25" name="Google Shape;925;p24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8" name="Google Shape;928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3" name="Google Shape;93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6" name="Google Shape;936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7" name="Google Shape;937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2" name="Google Shape;94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7" name="Google Shape;947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8" name="Google Shape;948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3" name="Google Shape;953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7" name="Google Shape;957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8" name="Google Shape;958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9" name="Google Shape;959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0" name="Google Shape;960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1" name="Google Shape;961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2" name="Google Shape;962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5" name="Google Shape;965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6" name="Google Shape;966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0" name="Google Shape;970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1" name="Google Shape;971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5" name="Google Shape;975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6" name="Google Shape;976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7" name="Google Shape;977;p3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3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9" name="Google Shape;979;p3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0" name="Google Shape;980;p3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3" name="Google Shape;98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6" name="Google Shape;98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7" name="Google Shape;98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8" name="Google Shape;98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9" name="Google Shape;98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0" name="Google Shape;99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1" name="Google Shape;99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4" name="Google Shape;99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7" name="Google Shape;99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9" name="Google Shape;99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0" name="Google Shape;100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1" name="Google Shape;100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2" name="Google Shape;100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3" name="Google Shape;101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5" name="Google Shape;101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5"/>
          <p:cNvSpPr txBox="1"/>
          <p:nvPr>
            <p:ph type="title"/>
          </p:nvPr>
        </p:nvSpPr>
        <p:spPr>
          <a:xfrm>
            <a:off x="0" y="484225"/>
            <a:ext cx="9144000" cy="131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600"/>
              <a:t>Optimization Framework for Document Categorization </a:t>
            </a:r>
            <a:endParaRPr b="0" sz="4600"/>
          </a:p>
        </p:txBody>
      </p:sp>
      <p:sp>
        <p:nvSpPr>
          <p:cNvPr id="1021" name="Google Shape;1021;p45"/>
          <p:cNvSpPr txBox="1"/>
          <p:nvPr>
            <p:ph idx="1" type="body"/>
          </p:nvPr>
        </p:nvSpPr>
        <p:spPr>
          <a:xfrm>
            <a:off x="320675" y="1570500"/>
            <a:ext cx="5486400" cy="20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Manrope"/>
                <a:ea typeface="Manrope"/>
                <a:cs typeface="Manrope"/>
                <a:sym typeface="Manrope"/>
              </a:rPr>
              <a:t>2510030245-Bonthapally Mamatha</a:t>
            </a:r>
            <a:endParaRPr b="1" sz="20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Manrope"/>
                <a:ea typeface="Manrope"/>
                <a:cs typeface="Manrope"/>
                <a:sym typeface="Manrope"/>
              </a:rPr>
              <a:t>251003073-Nerella Sreeja</a:t>
            </a:r>
            <a:endParaRPr b="1" sz="20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Manrope"/>
                <a:ea typeface="Manrope"/>
                <a:cs typeface="Manrope"/>
                <a:sym typeface="Manrope"/>
              </a:rPr>
              <a:t>2510030035- Sriramadasu Anushka</a:t>
            </a:r>
            <a:endParaRPr b="1" sz="20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22" name="Google Shape;1022;p45"/>
          <p:cNvSpPr txBox="1"/>
          <p:nvPr/>
        </p:nvSpPr>
        <p:spPr>
          <a:xfrm>
            <a:off x="6903725" y="4064950"/>
            <a:ext cx="2944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G-14</a:t>
            </a:r>
            <a:br>
              <a:rPr b="1" lang="en" sz="2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lang="en" sz="2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Section: A7</a:t>
            </a:r>
            <a:endParaRPr b="1" sz="2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6"/>
          <p:cNvSpPr txBox="1"/>
          <p:nvPr/>
        </p:nvSpPr>
        <p:spPr>
          <a:xfrm>
            <a:off x="543406" y="2876060"/>
            <a:ext cx="665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28" name="Google Shape;1028;p46"/>
          <p:cNvSpPr txBox="1"/>
          <p:nvPr/>
        </p:nvSpPr>
        <p:spPr>
          <a:xfrm>
            <a:off x="543406" y="3928200"/>
            <a:ext cx="6651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29" name="Google Shape;1029;p46"/>
          <p:cNvSpPr txBox="1"/>
          <p:nvPr/>
        </p:nvSpPr>
        <p:spPr>
          <a:xfrm>
            <a:off x="4102950" y="1604625"/>
            <a:ext cx="39177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30" name="Google Shape;1030;p46"/>
          <p:cNvSpPr txBox="1"/>
          <p:nvPr/>
        </p:nvSpPr>
        <p:spPr>
          <a:xfrm>
            <a:off x="4102950" y="2648550"/>
            <a:ext cx="39177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31" name="Google Shape;1031;p46"/>
          <p:cNvSpPr txBox="1"/>
          <p:nvPr/>
        </p:nvSpPr>
        <p:spPr>
          <a:xfrm>
            <a:off x="4102950" y="3634875"/>
            <a:ext cx="42627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32" name="Google Shape;1032;p46"/>
          <p:cNvSpPr txBox="1"/>
          <p:nvPr/>
        </p:nvSpPr>
        <p:spPr>
          <a:xfrm>
            <a:off x="603000" y="1883300"/>
            <a:ext cx="4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33" name="Google Shape;1033;p46"/>
          <p:cNvSpPr txBox="1"/>
          <p:nvPr>
            <p:ph type="title"/>
          </p:nvPr>
        </p:nvSpPr>
        <p:spPr>
          <a:xfrm>
            <a:off x="425825" y="-201700"/>
            <a:ext cx="44364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Introduction :</a:t>
            </a:r>
            <a:endParaRPr/>
          </a:p>
        </p:txBody>
      </p:sp>
      <p:sp>
        <p:nvSpPr>
          <p:cNvPr id="1034" name="Google Shape;1034;p46"/>
          <p:cNvSpPr txBox="1"/>
          <p:nvPr/>
        </p:nvSpPr>
        <p:spPr>
          <a:xfrm>
            <a:off x="425825" y="582700"/>
            <a:ext cx="8718300" cy="4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1)The project automatically categorizes documents into predefined categories such as Technology, Sports, Business, Education, and Healthcare.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2)It reduces the manual effort required to organize and manage large collections of documents.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3)The system uses efficient Data Structures and Algorithms to enable fast searching, sorting, and document retrieval.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4)It supports multiple document formats such as PDF, DOCX, and TXT for easy document processing.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5)The framework improves document management and can be applied in educational institutions, digital libraries, enterprises, and government organizations.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7"/>
          <p:cNvSpPr txBox="1"/>
          <p:nvPr>
            <p:ph type="title"/>
          </p:nvPr>
        </p:nvSpPr>
        <p:spPr>
          <a:xfrm>
            <a:off x="422375" y="99200"/>
            <a:ext cx="2641500" cy="59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Roles :</a:t>
            </a:r>
            <a:endParaRPr sz="4100"/>
          </a:p>
        </p:txBody>
      </p:sp>
      <p:sp>
        <p:nvSpPr>
          <p:cNvPr id="1040" name="Google Shape;1040;p47"/>
          <p:cNvSpPr txBox="1"/>
          <p:nvPr/>
        </p:nvSpPr>
        <p:spPr>
          <a:xfrm>
            <a:off x="568150" y="689300"/>
            <a:ext cx="8447100" cy="43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/>
              <a:t>Member 1 – Frontend &amp; Document Processing</a:t>
            </a:r>
            <a:endParaRPr b="1" sz="17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Design user interface                                  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Document upload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Text extraction &amp; preprocessing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/>
              <a:t>Member 2 – DSA &amp; Classification</a:t>
            </a:r>
            <a:endParaRPr b="1" sz="17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Implement searching &amp; sorting algorithms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Document categorization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Optimize algorithm performance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/>
              <a:t>Member 3 – Database &amp; Reporting</a:t>
            </a:r>
            <a:endParaRPr b="1" sz="17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Database design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Generate reports &amp; visualizations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Testing, debugging &amp; project integration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41" name="Google Shape;1041;p47"/>
          <p:cNvSpPr txBox="1"/>
          <p:nvPr/>
        </p:nvSpPr>
        <p:spPr>
          <a:xfrm>
            <a:off x="5622075" y="957125"/>
            <a:ext cx="25092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DSA Topics Used: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Arrays / ArrayList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Queue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String Processing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Binary Search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DSA Topics Used: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HashMap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HashSet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Sorting Algorithms (Merge Sort / Quick Sort)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Searching Algorithms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Binary Search Tree (BST) Database Indexing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48"/>
          <p:cNvSpPr txBox="1"/>
          <p:nvPr>
            <p:ph type="title"/>
          </p:nvPr>
        </p:nvSpPr>
        <p:spPr>
          <a:xfrm>
            <a:off x="116975" y="173025"/>
            <a:ext cx="5338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600"/>
              <a:t>Project </a:t>
            </a:r>
            <a:r>
              <a:rPr lang="en" sz="3600"/>
              <a:t>Explicit</a:t>
            </a:r>
            <a:r>
              <a:rPr lang="en" sz="3600"/>
              <a:t> Outcome</a:t>
            </a:r>
            <a:endParaRPr sz="3600"/>
          </a:p>
        </p:txBody>
      </p:sp>
      <p:sp>
        <p:nvSpPr>
          <p:cNvPr id="1047" name="Google Shape;1047;p48"/>
          <p:cNvSpPr txBox="1"/>
          <p:nvPr>
            <p:ph idx="1" type="body"/>
          </p:nvPr>
        </p:nvSpPr>
        <p:spPr>
          <a:xfrm>
            <a:off x="116975" y="914900"/>
            <a:ext cx="8798400" cy="40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" sz="2400"/>
              <a:t>Automatically categorize uploaded documents into predefined categories.</a:t>
            </a:r>
            <a:endParaRPr sz="24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" sz="2400"/>
              <a:t>Reduce manual effort in document organization.</a:t>
            </a:r>
            <a:endParaRPr sz="24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" sz="2400"/>
              <a:t>Improve search and retrieval speed using efficient DSA techniques.</a:t>
            </a:r>
            <a:endParaRPr sz="24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" sz="2400"/>
              <a:t>Demonstrate practical implementation of searching, sorting, hashing, and indexing algorithms.</a:t>
            </a:r>
            <a:endParaRPr sz="24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" sz="2400"/>
              <a:t>Provide accurate classification reports for users.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SzPts val="1200"/>
              <a:buNone/>
            </a:pPr>
            <a:r>
              <a:t/>
            </a:r>
            <a:endParaRPr sz="2000"/>
          </a:p>
        </p:txBody>
      </p:sp>
      <p:sp>
        <p:nvSpPr>
          <p:cNvPr id="1048" name="Google Shape;1048;p48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49"/>
          <p:cNvSpPr txBox="1"/>
          <p:nvPr>
            <p:ph idx="4294967295" type="subTitle"/>
          </p:nvPr>
        </p:nvSpPr>
        <p:spPr>
          <a:xfrm>
            <a:off x="3403075" y="124950"/>
            <a:ext cx="4872600" cy="53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educational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Institutions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Organize study materials and question papers.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 Libraries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Classify books and research papers.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Companies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 business documents efficiently.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Government Offices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Organize official records and reports.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Healthcare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Categorize medical documents and reports.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News Agencies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Automatically classify news articles.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4" name="Google Shape;1054;p49"/>
          <p:cNvSpPr txBox="1"/>
          <p:nvPr>
            <p:ph idx="4294967295" type="title"/>
          </p:nvPr>
        </p:nvSpPr>
        <p:spPr>
          <a:xfrm>
            <a:off x="512875" y="1555950"/>
            <a:ext cx="26415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"/>
              <a:t>Applications to Society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0"/>
          <p:cNvSpPr txBox="1"/>
          <p:nvPr>
            <p:ph idx="1" type="body"/>
          </p:nvPr>
        </p:nvSpPr>
        <p:spPr>
          <a:xfrm>
            <a:off x="884250" y="1126700"/>
            <a:ext cx="4600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600"/>
              <a:t>https://github.com/sriramadasuanushka/DSA-3-G-14</a:t>
            </a:r>
            <a:endParaRPr sz="2600"/>
          </a:p>
        </p:txBody>
      </p:sp>
      <p:sp>
        <p:nvSpPr>
          <p:cNvPr id="1060" name="Google Shape;1060;p50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Github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1"/>
          <p:cNvSpPr txBox="1"/>
          <p:nvPr>
            <p:ph type="title"/>
          </p:nvPr>
        </p:nvSpPr>
        <p:spPr>
          <a:xfrm>
            <a:off x="512875" y="1121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References:</a:t>
            </a:r>
            <a:endParaRPr/>
          </a:p>
        </p:txBody>
      </p:sp>
      <p:sp>
        <p:nvSpPr>
          <p:cNvPr id="1066" name="Google Shape;1066;p51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latin typeface="Manrope"/>
                <a:ea typeface="Manrope"/>
                <a:cs typeface="Manrope"/>
                <a:sym typeface="Manrope"/>
              </a:rPr>
              <a:t>https://www.kaggle.com</a:t>
            </a:r>
            <a:endParaRPr sz="13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67" name="Google Shape;1067;p51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https://ieeexplore.ieee.org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68" name="Google Shape;1068;p51"/>
          <p:cNvSpPr txBox="1"/>
          <p:nvPr>
            <p:ph idx="3" type="body"/>
          </p:nvPr>
        </p:nvSpPr>
        <p:spPr>
          <a:xfrm>
            <a:off x="4052600" y="191200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latin typeface="Manrope"/>
                <a:ea typeface="Manrope"/>
                <a:cs typeface="Manrope"/>
                <a:sym typeface="Manrope"/>
              </a:rPr>
              <a:t>https://scikit-learn.org</a:t>
            </a:r>
            <a:endParaRPr sz="14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69" name="Google Shape;1069;p51"/>
          <p:cNvSpPr txBox="1"/>
          <p:nvPr>
            <p:ph idx="4" type="title"/>
          </p:nvPr>
        </p:nvSpPr>
        <p:spPr>
          <a:xfrm>
            <a:off x="1075800" y="2925625"/>
            <a:ext cx="2917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2000">
                <a:latin typeface="Manrope"/>
                <a:ea typeface="Manrope"/>
                <a:cs typeface="Manrope"/>
                <a:sym typeface="Manrope"/>
              </a:rPr>
              <a:t>Kaggle Datasets  </a:t>
            </a:r>
            <a:endParaRPr/>
          </a:p>
        </p:txBody>
      </p:sp>
      <p:sp>
        <p:nvSpPr>
          <p:cNvPr id="1070" name="Google Shape;1070;p51"/>
          <p:cNvSpPr txBox="1"/>
          <p:nvPr>
            <p:ph idx="5" type="title"/>
          </p:nvPr>
        </p:nvSpPr>
        <p:spPr>
          <a:xfrm>
            <a:off x="703275" y="3935900"/>
            <a:ext cx="3014100" cy="11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"/>
              <a:buChar char="●"/>
            </a:pP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Research papers on Document Categorization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  <p:sp>
        <p:nvSpPr>
          <p:cNvPr id="1071" name="Google Shape;1071;p51"/>
          <p:cNvSpPr txBox="1"/>
          <p:nvPr>
            <p:ph idx="6" type="title"/>
          </p:nvPr>
        </p:nvSpPr>
        <p:spPr>
          <a:xfrm>
            <a:off x="1075800" y="1912000"/>
            <a:ext cx="29172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2000">
                <a:latin typeface="Manrope"/>
                <a:ea typeface="Manrope"/>
                <a:cs typeface="Manrope"/>
                <a:sym typeface="Manrope"/>
              </a:rPr>
              <a:t>Scikit-learn Documentation</a:t>
            </a:r>
            <a:endParaRPr sz="2000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  <p:sp>
        <p:nvSpPr>
          <p:cNvPr id="1072" name="Google Shape;1072;p51"/>
          <p:cNvSpPr txBox="1"/>
          <p:nvPr>
            <p:ph idx="7" type="title"/>
          </p:nvPr>
        </p:nvSpPr>
        <p:spPr>
          <a:xfrm>
            <a:off x="543400" y="1912000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1073" name="Google Shape;1073;p51"/>
          <p:cNvSpPr txBox="1"/>
          <p:nvPr>
            <p:ph idx="8" type="title"/>
          </p:nvPr>
        </p:nvSpPr>
        <p:spPr>
          <a:xfrm>
            <a:off x="543400" y="2925625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1074" name="Google Shape;1074;p51"/>
          <p:cNvSpPr txBox="1"/>
          <p:nvPr>
            <p:ph idx="9" type="title"/>
          </p:nvPr>
        </p:nvSpPr>
        <p:spPr>
          <a:xfrm>
            <a:off x="543400" y="3935900"/>
            <a:ext cx="4728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1075" name="Google Shape;1075;p51"/>
          <p:cNvSpPr txBox="1"/>
          <p:nvPr/>
        </p:nvSpPr>
        <p:spPr>
          <a:xfrm>
            <a:off x="603400" y="1131900"/>
            <a:ext cx="412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r>
              <a:rPr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6" name="Google Shape;1076;p51"/>
          <p:cNvSpPr txBox="1"/>
          <p:nvPr/>
        </p:nvSpPr>
        <p:spPr>
          <a:xfrm>
            <a:off x="1075800" y="1144375"/>
            <a:ext cx="24837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2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NLTK Documentation</a:t>
            </a:r>
            <a:endParaRPr sz="2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7" name="Google Shape;1077;p51"/>
          <p:cNvSpPr txBox="1"/>
          <p:nvPr/>
        </p:nvSpPr>
        <p:spPr>
          <a:xfrm>
            <a:off x="3993000" y="1191175"/>
            <a:ext cx="2771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https://www.nltk.org</a:t>
            </a:r>
            <a:endParaRPr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