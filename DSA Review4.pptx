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4" r:id="rId12"/>
    <p:sldId id="265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9D0500-C9BC-4586-8A99-9304DEBD7AB6}" v="9" dt="2026-10-07T11:19:59.7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nthapally mamatha" userId="0146d5a8cdf4a923" providerId="LiveId" clId="{F6A96D12-D646-4CDE-BD94-68347503FA9E}"/>
    <pc:docChg chg="addSld modSld">
      <pc:chgData name="bonthapally mamatha" userId="0146d5a8cdf4a923" providerId="LiveId" clId="{F6A96D12-D646-4CDE-BD94-68347503FA9E}" dt="2026-10-07T11:20:43.444" v="169" actId="113"/>
      <pc:docMkLst>
        <pc:docMk/>
      </pc:docMkLst>
      <pc:sldChg chg="addSp modSp mod">
        <pc:chgData name="bonthapally mamatha" userId="0146d5a8cdf4a923" providerId="LiveId" clId="{F6A96D12-D646-4CDE-BD94-68347503FA9E}" dt="2026-10-07T11:20:43.444" v="169" actId="113"/>
        <pc:sldMkLst>
          <pc:docMk/>
          <pc:sldMk cId="0" sldId="256"/>
        </pc:sldMkLst>
        <pc:spChg chg="mod">
          <ac:chgData name="bonthapally mamatha" userId="0146d5a8cdf4a923" providerId="LiveId" clId="{F6A96D12-D646-4CDE-BD94-68347503FA9E}" dt="2026-10-07T11:18:40.321" v="154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bonthapally mamatha" userId="0146d5a8cdf4a923" providerId="LiveId" clId="{F6A96D12-D646-4CDE-BD94-68347503FA9E}" dt="2026-10-07T11:18:52.082" v="155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bonthapally mamatha" userId="0146d5a8cdf4a923" providerId="LiveId" clId="{F6A96D12-D646-4CDE-BD94-68347503FA9E}" dt="2026-10-07T11:19:02.911" v="156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bonthapally mamatha" userId="0146d5a8cdf4a923" providerId="LiveId" clId="{F6A96D12-D646-4CDE-BD94-68347503FA9E}" dt="2026-10-07T11:20:43.444" v="169" actId="113"/>
          <ac:spMkLst>
            <pc:docMk/>
            <pc:sldMk cId="0" sldId="256"/>
            <ac:spMk id="6" creationId="{00000000-0000-0000-0000-000000000000}"/>
          </ac:spMkLst>
        </pc:spChg>
        <pc:spChg chg="add mod">
          <ac:chgData name="bonthapally mamatha" userId="0146d5a8cdf4a923" providerId="LiveId" clId="{F6A96D12-D646-4CDE-BD94-68347503FA9E}" dt="2026-10-07T11:20:34.154" v="168" actId="113"/>
          <ac:spMkLst>
            <pc:docMk/>
            <pc:sldMk cId="0" sldId="256"/>
            <ac:spMk id="7" creationId="{82EB62F5-E07C-1E33-A350-A5DB657503BA}"/>
          </ac:spMkLst>
        </pc:spChg>
      </pc:sldChg>
      <pc:sldChg chg="addSp modSp new mod">
        <pc:chgData name="bonthapally mamatha" userId="0146d5a8cdf4a923" providerId="LiveId" clId="{F6A96D12-D646-4CDE-BD94-68347503FA9E}" dt="2026-10-07T11:13:27.219" v="20" actId="14100"/>
        <pc:sldMkLst>
          <pc:docMk/>
          <pc:sldMk cId="637007936" sldId="266"/>
        </pc:sldMkLst>
        <pc:spChg chg="add mod">
          <ac:chgData name="bonthapally mamatha" userId="0146d5a8cdf4a923" providerId="LiveId" clId="{F6A96D12-D646-4CDE-BD94-68347503FA9E}" dt="2026-10-07T11:11:48.357" v="9" actId="20577"/>
          <ac:spMkLst>
            <pc:docMk/>
            <pc:sldMk cId="637007936" sldId="266"/>
            <ac:spMk id="2" creationId="{9663B22C-505D-65BC-5AB4-A768F1B4848F}"/>
          </ac:spMkLst>
        </pc:spChg>
        <pc:picChg chg="add mod">
          <ac:chgData name="bonthapally mamatha" userId="0146d5a8cdf4a923" providerId="LiveId" clId="{F6A96D12-D646-4CDE-BD94-68347503FA9E}" dt="2026-10-07T11:13:21.278" v="18" actId="14100"/>
          <ac:picMkLst>
            <pc:docMk/>
            <pc:sldMk cId="637007936" sldId="266"/>
            <ac:picMk id="3" creationId="{732D6090-A0FC-CCE7-3837-13D865A8E6E3}"/>
          </ac:picMkLst>
        </pc:picChg>
        <pc:picChg chg="add mod">
          <ac:chgData name="bonthapally mamatha" userId="0146d5a8cdf4a923" providerId="LiveId" clId="{F6A96D12-D646-4CDE-BD94-68347503FA9E}" dt="2026-10-07T11:13:27.219" v="20" actId="14100"/>
          <ac:picMkLst>
            <pc:docMk/>
            <pc:sldMk cId="637007936" sldId="266"/>
            <ac:picMk id="4" creationId="{4C3E5009-2039-A802-0701-728C773D0EF1}"/>
          </ac:picMkLst>
        </pc:picChg>
      </pc:sldChg>
      <pc:sldChg chg="addSp modSp new mod">
        <pc:chgData name="bonthapally mamatha" userId="0146d5a8cdf4a923" providerId="LiveId" clId="{F6A96D12-D646-4CDE-BD94-68347503FA9E}" dt="2026-10-07T11:14:53.759" v="39" actId="14100"/>
        <pc:sldMkLst>
          <pc:docMk/>
          <pc:sldMk cId="317901569" sldId="267"/>
        </pc:sldMkLst>
        <pc:spChg chg="add mod">
          <ac:chgData name="bonthapally mamatha" userId="0146d5a8cdf4a923" providerId="LiveId" clId="{F6A96D12-D646-4CDE-BD94-68347503FA9E}" dt="2026-10-07T11:13:50.732" v="31" actId="20577"/>
          <ac:spMkLst>
            <pc:docMk/>
            <pc:sldMk cId="317901569" sldId="267"/>
            <ac:spMk id="2" creationId="{DF61D9EF-64C0-59CD-531E-8D9F1A198216}"/>
          </ac:spMkLst>
        </pc:spChg>
        <pc:picChg chg="add mod">
          <ac:chgData name="bonthapally mamatha" userId="0146d5a8cdf4a923" providerId="LiveId" clId="{F6A96D12-D646-4CDE-BD94-68347503FA9E}" dt="2026-10-07T11:14:26.401" v="34" actId="1076"/>
          <ac:picMkLst>
            <pc:docMk/>
            <pc:sldMk cId="317901569" sldId="267"/>
            <ac:picMk id="3" creationId="{690A4209-368D-A8AF-6E75-C2BF8519E16F}"/>
          </ac:picMkLst>
        </pc:picChg>
        <pc:picChg chg="add mod">
          <ac:chgData name="bonthapally mamatha" userId="0146d5a8cdf4a923" providerId="LiveId" clId="{F6A96D12-D646-4CDE-BD94-68347503FA9E}" dt="2026-10-07T11:14:53.759" v="39" actId="14100"/>
          <ac:picMkLst>
            <pc:docMk/>
            <pc:sldMk cId="317901569" sldId="267"/>
            <ac:picMk id="4" creationId="{0F530D5C-99AA-DB8C-4479-CAB34A397D11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A5F"/>
                </a:solidFill>
                <a:latin typeface="Calibri"/>
              </a:defRPr>
            </a:pPr>
            <a:r>
              <a:rPr lang="en-IN" sz="1300" b="0" i="0" u="none" strike="noStrike">
                <a:solidFill>
                  <a:srgbClr val="1F3A5F"/>
                </a:solidFill>
                <a:latin typeface="Calibri"/>
              </a:rPr>
              <a:t>Category-wise Accuracy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B2B2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Business</c:v>
                </c:pt>
                <c:pt idx="1">
                  <c:v>Entertainment</c:v>
                </c:pt>
                <c:pt idx="2">
                  <c:v>Politics</c:v>
                </c:pt>
                <c:pt idx="3">
                  <c:v>Sport</c:v>
                </c:pt>
                <c:pt idx="4">
                  <c:v>Tech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70.59</c:v>
                </c:pt>
                <c:pt idx="1">
                  <c:v>82.9</c:v>
                </c:pt>
                <c:pt idx="2">
                  <c:v>94.48</c:v>
                </c:pt>
                <c:pt idx="3">
                  <c:v>90.41</c:v>
                </c:pt>
                <c:pt idx="4">
                  <c:v>83.04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97E-4205-BEE8-94ED1F48B09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B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1E6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7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8053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234440"/>
            <a:ext cx="822960" cy="6400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175912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Framework for Document Categorization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428997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DSA-Based Framework for Efficient Classification, Searching and Retrieval of Documents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324719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[2510030245-Bonthapally Mamatha] 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[2510030073-Nerella Sreeja] 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[2510030035-Sriramadasu Anushka]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029163"/>
            <a:ext cx="7863840" cy="387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chemeClr val="bg1"/>
                </a:solidFill>
              </a:rPr>
              <a:t>DATA STRUCTURES AND ALGORITHMS-3</a:t>
            </a:r>
            <a:r>
              <a:rPr lang="en-IN" dirty="0">
                <a:solidFill>
                  <a:schemeClr val="bg1"/>
                </a:solidFill>
              </a:rPr>
              <a:t>  </a:t>
            </a:r>
            <a:r>
              <a:rPr lang="en-US" dirty="0">
                <a:solidFill>
                  <a:schemeClr val="bg1"/>
                </a:solidFill>
              </a:rPr>
              <a:t>25CS2103E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EB62F5-E07C-1E33-A350-A5DB657503BA}"/>
              </a:ext>
            </a:extLst>
          </p:cNvPr>
          <p:cNvSpPr txBox="1"/>
          <p:nvPr/>
        </p:nvSpPr>
        <p:spPr>
          <a:xfrm>
            <a:off x="544749" y="4623881"/>
            <a:ext cx="351492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</a:rPr>
              <a:t>Under the guidance of</a:t>
            </a:r>
          </a:p>
          <a:p>
            <a:r>
              <a:rPr lang="en-IN" sz="1400" dirty="0" err="1">
                <a:solidFill>
                  <a:schemeClr val="bg1"/>
                </a:solidFill>
              </a:rPr>
              <a:t>Mr.Aftab</a:t>
            </a:r>
            <a:r>
              <a:rPr lang="en-IN" sz="1400" dirty="0">
                <a:solidFill>
                  <a:schemeClr val="bg1"/>
                </a:solidFill>
              </a:rPr>
              <a:t> Yaseen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4023360" cy="251460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9525">
            <a:solidFill>
              <a:srgbClr val="E1E6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60020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document collections are hard to categorize manually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classification is time-consuming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search becomes slow as documents grow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may contain keywords from multiple categories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3840480" cy="2514600"/>
          </a:xfrm>
          <a:prstGeom prst="roundRect">
            <a:avLst>
              <a:gd name="adj" fmla="val 2909"/>
            </a:avLst>
          </a:prstGeom>
          <a:solidFill>
            <a:srgbClr val="DDF1EE"/>
          </a:solidFill>
          <a:ln w="9525">
            <a:solidFill>
              <a:srgbClr val="E1E6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83480" y="1188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983480" y="160020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DSA-based framework that automatically categorizes documents and provides efficient searching, indexing and retrieval.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749040"/>
            <a:ext cx="8046720" cy="868680"/>
          </a:xfrm>
          <a:prstGeom prst="roundRect">
            <a:avLst>
              <a:gd name="adj" fmla="val 8421"/>
            </a:avLst>
          </a:prstGeom>
          <a:solidFill>
            <a:srgbClr val="1F3A5F"/>
          </a:solidFill>
          <a:ln w="9525">
            <a:solidFill>
              <a:srgbClr val="E1E6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74904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F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2225 BBC News documents  |  5 categories: Business, Entertainment, Politics, Sport, Tech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&amp; Architecture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188720"/>
            <a:ext cx="1371600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BBC News Dataset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35331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194560" y="118872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94560" y="1188720"/>
            <a:ext cx="1371600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Processing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135331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840480" y="118872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40480" y="1188720"/>
            <a:ext cx="1371600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Extraction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212080" y="135331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0" y="118872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0" y="1188720"/>
            <a:ext cx="1371600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HashSet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(remove duplicates)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0" y="135331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132320" y="118872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32320" y="1188720"/>
            <a:ext cx="1371600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HashMap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(category scoring)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543800" y="20116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583680" y="2423160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0" y="2423160"/>
            <a:ext cx="1737360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(rank categories)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258775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572000" y="2423160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0" y="2423160"/>
            <a:ext cx="1737360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Category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297680" y="258775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2560320" y="2423160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560320" y="2423160"/>
            <a:ext cx="1737360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&amp; Keyword Indexing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2286000" y="258775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48640" y="2423160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2423160"/>
            <a:ext cx="1737360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/ Retrieval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3520440"/>
            <a:ext cx="804672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9525">
            <a:solidFill>
              <a:srgbClr val="E1E6E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77240" y="3593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Modules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77240" y="39319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 →  Processing  →  DSA  →  Classification  →  Searching  →  Evaluation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Techniques Used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8046720" cy="2688336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ArrayList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 documents and words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HashSet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duplicate words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HashMap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 scoring and indexing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 Sort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 category scores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Search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document IDs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 and prefix search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DSA technique is selected for the operation it performs efficiently.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&amp; Retrieval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2743200" cy="3611880"/>
          </a:xfrm>
          <a:prstGeom prst="roundRect">
            <a:avLst>
              <a:gd name="adj" fmla="val 2667"/>
            </a:avLst>
          </a:prstGeom>
          <a:solidFill>
            <a:srgbClr val="F4F6F9"/>
          </a:solidFill>
          <a:ln w="9525">
            <a:solidFill>
              <a:srgbClr val="E1E6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0972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Classification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1508760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508760"/>
            <a:ext cx="228600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Article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2011680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011680"/>
            <a:ext cx="228600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Preprocessing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2514600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514600"/>
            <a:ext cx="228600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Matching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3017520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Scores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3520440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520440"/>
            <a:ext cx="228600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" y="4023360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023360"/>
            <a:ext cx="228600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Category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566160" y="1005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566160" y="1417320"/>
            <a:ext cx="2377440" cy="146304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9525">
            <a:solidFill>
              <a:srgbClr val="E1E6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66160" y="1554480"/>
            <a:ext cx="64008" cy="3657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749040" y="1554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HashMap Index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749040" y="20116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ID → Category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26480" y="1417320"/>
            <a:ext cx="2377440" cy="146304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9525">
            <a:solidFill>
              <a:srgbClr val="E1E6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1554480"/>
            <a:ext cx="64008" cy="3657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09360" y="1554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Index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309360" y="20116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football → [17, 29, 44, ...]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566160" y="3063240"/>
            <a:ext cx="2377440" cy="146304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9525">
            <a:solidFill>
              <a:srgbClr val="E1E6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66160" y="3200400"/>
            <a:ext cx="64008" cy="3657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749040" y="32004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3749040" y="36576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keyword search and prefix search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126480" y="3063240"/>
            <a:ext cx="2377440" cy="146304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9525">
            <a:solidFill>
              <a:srgbClr val="E1E6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26480" y="3200400"/>
            <a:ext cx="64008" cy="3657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309360" y="32004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6309360" y="36576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document ID searching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&amp; Results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0515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2225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544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Documents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06040" y="100584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06040" y="10515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1869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15544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63440" y="10515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356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15544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720840" y="100584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20840" y="10515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84.00%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6720840" y="15544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</a:t>
            </a:r>
            <a:endParaRPr lang="en-US" sz="12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548640" y="2103120"/>
          <a:ext cx="804672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548640" y="44348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Observation: 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Politics achieved the highest accuracy at 94.48%.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&amp; Error Analysis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5394960" cy="27432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/ Pred.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Entertainment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Politics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53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Entertainment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Politics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217920" y="1005840"/>
            <a:ext cx="2377440" cy="2743200"/>
          </a:xfrm>
          <a:prstGeom prst="roundRect">
            <a:avLst>
              <a:gd name="adj" fmla="val 3077"/>
            </a:avLst>
          </a:prstGeom>
          <a:solidFill>
            <a:srgbClr val="FDECEA"/>
          </a:solidFill>
          <a:ln w="9525">
            <a:solidFill>
              <a:srgbClr val="E1E6E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0" y="1097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Error</a:t>
            </a:r>
            <a:endParaRPr lang="en-US" sz="1500" dirty="0"/>
          </a:p>
        </p:txBody>
      </p:sp>
      <p:sp>
        <p:nvSpPr>
          <p:cNvPr id="5" name="Text 5"/>
          <p:cNvSpPr txBox="1"/>
          <p:nvPr/>
        </p:nvSpPr>
        <p:spPr>
          <a:xfrm>
            <a:off x="6400800" y="14173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 Business documents were classified as Politics.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400800" y="2194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400800" y="2487168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Keyword-based scoring can overlap when an article has terms from multiple categories.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Technical Competence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4114800" cy="3611880"/>
          </a:xfrm>
          <a:prstGeom prst="roundRect">
            <a:avLst>
              <a:gd name="adj" fmla="val 2025"/>
            </a:avLst>
          </a:prstGeom>
          <a:solidFill>
            <a:srgbClr val="DDF1EE"/>
          </a:solidFill>
          <a:ln w="9525">
            <a:solidFill>
              <a:srgbClr val="E1E6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/ Novelty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5087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of multiple DSA techniques into one document categorization and retrieval framework.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33172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HashMap indexing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retrieval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 searching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searching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 ranking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evaluation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3749040" cy="3611880"/>
          </a:xfrm>
          <a:prstGeom prst="roundRect">
            <a:avLst>
              <a:gd name="adj" fmla="val 2025"/>
            </a:avLst>
          </a:prstGeom>
          <a:solidFill>
            <a:srgbClr val="F4F6F9"/>
          </a:solidFill>
          <a:ln w="9525">
            <a:solidFill>
              <a:srgbClr val="E1E6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74920" y="1143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Competence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074920" y="1554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+ Eclipse + CSV Dataset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074920" y="1965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packages: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74920" y="237744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74920" y="2377440"/>
            <a:ext cx="91440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237744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26480" y="2377440"/>
            <a:ext cx="91440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178040" y="237744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78040" y="2377440"/>
            <a:ext cx="91440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74920" y="301752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74920" y="3017520"/>
            <a:ext cx="91440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26480" y="301752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126480" y="3017520"/>
            <a:ext cx="91440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178040" y="301752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78040" y="3017520"/>
            <a:ext cx="91440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63B22C-505D-65BC-5AB4-A768F1B4848F}"/>
              </a:ext>
            </a:extLst>
          </p:cNvPr>
          <p:cNvSpPr txBox="1"/>
          <p:nvPr/>
        </p:nvSpPr>
        <p:spPr>
          <a:xfrm>
            <a:off x="784698" y="350196"/>
            <a:ext cx="7321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Results: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2D6090-A0FC-CCE7-3837-13D865A8E6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539" y="939306"/>
            <a:ext cx="3930542" cy="34575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C3E5009-2039-A802-0701-728C773D0E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540" y="998705"/>
            <a:ext cx="4419600" cy="3457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0079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61D9EF-64C0-59CD-531E-8D9F1A198216}"/>
              </a:ext>
            </a:extLst>
          </p:cNvPr>
          <p:cNvSpPr txBox="1"/>
          <p:nvPr/>
        </p:nvSpPr>
        <p:spPr>
          <a:xfrm>
            <a:off x="700391" y="428017"/>
            <a:ext cx="6828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Results:</a:t>
            </a:r>
          </a:p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0A4209-368D-A8AF-6E75-C2BF8519E1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349" y="883453"/>
            <a:ext cx="4200255" cy="354520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F530D5C-99AA-DB8C-4479-CAB34A397D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5412" y="940340"/>
            <a:ext cx="3606287" cy="348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015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Utility &amp; Future Scope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2560320" cy="3611880"/>
          </a:xfrm>
          <a:prstGeom prst="roundRect">
            <a:avLst>
              <a:gd name="adj" fmla="val 2857"/>
            </a:avLst>
          </a:prstGeom>
          <a:solidFill>
            <a:srgbClr val="F4F6F9"/>
          </a:solidFill>
          <a:ln w="9525">
            <a:solidFill>
              <a:srgbClr val="E1E6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05840"/>
            <a:ext cx="2560320" cy="73152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188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645920"/>
            <a:ext cx="2240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Benchmarked HashMap Search vs Binary Search across dataset sizes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analyze retrieval performance instead of assuming one method is always faster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91840" y="1005840"/>
            <a:ext cx="2560320" cy="3611880"/>
          </a:xfrm>
          <a:prstGeom prst="roundRect">
            <a:avLst>
              <a:gd name="adj" fmla="val 2857"/>
            </a:avLst>
          </a:prstGeom>
          <a:solidFill>
            <a:srgbClr val="F4F6F9"/>
          </a:solidFill>
          <a:ln w="9525">
            <a:solidFill>
              <a:srgbClr val="E1E6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005840"/>
            <a:ext cx="2560320" cy="7315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74720" y="1188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1645920"/>
            <a:ext cx="2240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websites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libraries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platforms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repositories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management systems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35040" y="1005840"/>
            <a:ext cx="2560320" cy="3611880"/>
          </a:xfrm>
          <a:prstGeom prst="roundRect">
            <a:avLst>
              <a:gd name="adj" fmla="val 2857"/>
            </a:avLst>
          </a:prstGeom>
          <a:solidFill>
            <a:srgbClr val="F4F6F9"/>
          </a:solidFill>
          <a:ln w="9525">
            <a:solidFill>
              <a:srgbClr val="E1E6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005840"/>
            <a:ext cx="2560320" cy="73152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17920" y="1188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1645920"/>
            <a:ext cx="2240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keywords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text preprocessing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/ semantic techniques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datasets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Database-based persistent storage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scalability and retrieval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82296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7863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 DSA-based document categorization framework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2225 documents across 5 categories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84% overall classification accuracy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HashMap, HashSet, ArrayList, Trie, Merge Sort and Binary Search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both classification and efficient document retrieval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confusion matrix and benchmarking to evaluate the system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520440"/>
            <a:ext cx="7863840" cy="1051560"/>
          </a:xfrm>
          <a:prstGeom prst="roundRect">
            <a:avLst>
              <a:gd name="adj" fmla="val 6957"/>
            </a:avLst>
          </a:prstGeom>
          <a:solidFill>
            <a:srgbClr val="2B4B77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520440"/>
            <a:ext cx="7406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"Our project demonstrates how multiple DSA techniques can be integrated to build an efficient, modular and extensible document categorization and retrieval system."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576</Words>
  <Application>Microsoft Office PowerPoint</Application>
  <PresentationFormat>On-screen Show (16:9)</PresentationFormat>
  <Paragraphs>190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Optimization Framework for Document Categorization</dc:title>
  <dc:subject>PptxGenJS Presentation</dc:subject>
  <dc:creator>PptxGenJS</dc:creator>
  <cp:lastModifiedBy>bonthapally mamatha</cp:lastModifiedBy>
  <cp:revision>1</cp:revision>
  <dcterms:created xsi:type="dcterms:W3CDTF">2026-10-04T06:01:04Z</dcterms:created>
  <dcterms:modified xsi:type="dcterms:W3CDTF">2026-10-07T11:20:48Z</dcterms:modified>
</cp:coreProperties>
</file>